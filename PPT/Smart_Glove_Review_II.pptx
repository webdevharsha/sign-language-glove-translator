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71" r:id="rId5"/>
    <p:sldId id="27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8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2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01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Glove for Real-Time Sign Language to Speech Translation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 Sri Harsha – 23BLC1024, Samarth Sudeep Jagtap – 23BLC1033, Pavan U Kulkarni – 23BLC1038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Venkatesan C, SENSE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  ·  30.09.2026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Recap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0">
              <a:spcAft>
                <a:spcPts val="400"/>
              </a:spcAft>
              <a:buNone/>
            </a:pPr>
            <a:r>
              <a:rPr sz="1500" b="1" i="0" dirty="0">
                <a:solidFill>
                  <a:srgbClr val="065A82"/>
                </a:solidFill>
                <a:latin typeface="Calibri"/>
              </a:rPr>
              <a:t>Problem recap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Existing glove systems classify one letter or gesture at a time, with a deliberate pause around it; natural signing has no pauses and no segment boundaries (co-articulation).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Real sentences mix fingerspelled names with whole-sign words freely, so the model must infer which mode it is in from the raw stream alone.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There is no public continuous, multi-signer flex + IMU corpus for ASL, so glove results are not reproducible or comparable across groups.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Reported accuracy is usually isolated-gesture and signer-dependent; the drop under continuous, signer-independent conditions is rarely published.</a:t>
            </a:r>
          </a:p>
          <a:p>
            <a:pPr marL="406400" indent="0">
              <a:spcAft>
                <a:spcPts val="800"/>
              </a:spcAft>
              <a:buNone/>
            </a:pPr>
            <a:r>
              <a:rPr sz="1150" b="0" i="1" dirty="0">
                <a:solidFill>
                  <a:srgbClr val="5A6B78"/>
                </a:solidFill>
                <a:latin typeface="Calibri"/>
              </a:rPr>
              <a:t>Core problem: turn an unsegmented 11-channel sensor stream into a correct English sentence, for a signer the model has never seen.</a:t>
            </a:r>
          </a:p>
          <a:p>
            <a:pPr marL="177800" indent="0">
              <a:spcAft>
                <a:spcPts val="0"/>
              </a:spcAft>
              <a:buNone/>
            </a:pPr>
            <a:endParaRPr sz="1150" b="0" i="1" dirty="0">
              <a:solidFill>
                <a:srgbClr val="5A6B78"/>
              </a:solidFill>
              <a:latin typeface="Calibri"/>
            </a:endParaRPr>
          </a:p>
          <a:p>
            <a:pPr marL="177800" indent="0">
              <a:spcAft>
                <a:spcPts val="400"/>
              </a:spcAft>
              <a:buNone/>
            </a:pPr>
            <a:r>
              <a:rPr sz="1500" b="1" i="0" dirty="0">
                <a:solidFill>
                  <a:srgbClr val="065A82"/>
                </a:solidFill>
                <a:latin typeface="Calibri"/>
              </a:rPr>
              <a:t>Objectives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Build reproducible hardware: 5 flex sensors + MPU-6050 + ESP32 glove with open BOM, wiring diagram, calibration routine and firmware.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Collect a continuous, multi-signer ASL dataset as raw flex + IMU, with isolated and sentence-level subsets and signer-disjoint splits.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Train a segmentation-free CNN → </a:t>
            </a:r>
            <a:r>
              <a:rPr sz="1300" b="0" i="0" dirty="0" err="1">
                <a:solidFill>
                  <a:srgbClr val="000000"/>
                </a:solidFill>
                <a:latin typeface="Calibri"/>
              </a:rPr>
              <a:t>BiLSTM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 → CTC model that labels the whole stream with no hand-marked sign boundaries.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Decode mixed fingerspelling and lexical signs via lexicon-constrained beam search over one shared output vocabulary.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Convert gloss to fluent English: rule-based reordering baseline, then T5 / </a:t>
            </a:r>
            <a:r>
              <a:rPr sz="1300" b="0" i="0" dirty="0" err="1">
                <a:solidFill>
                  <a:srgbClr val="000000"/>
                </a:solidFill>
                <a:latin typeface="Calibri"/>
              </a:rPr>
              <a:t>mBART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 fine-tuned on ASLG-PC12 if time allows.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Evaluate honestly: WER and BLEU on signer-independent splits, with isolated-gesture accuracy compared explicitly against continuous accuracy.</a:t>
            </a:r>
          </a:p>
          <a:p>
            <a:pPr marL="177800" indent="0">
              <a:spcAft>
                <a:spcPts val="0"/>
              </a:spcAft>
              <a:buNone/>
            </a:pPr>
            <a:endParaRPr sz="1300" b="0" i="0" dirty="0">
              <a:solidFill>
                <a:srgbClr val="000000"/>
              </a:solidFill>
              <a:latin typeface="Calibri"/>
            </a:endParaRPr>
          </a:p>
          <a:p>
            <a:pPr marL="177800" indent="0">
              <a:spcAft>
                <a:spcPts val="400"/>
              </a:spcAft>
              <a:buNone/>
            </a:pPr>
            <a:r>
              <a:rPr sz="1500" b="1" i="0" dirty="0">
                <a:solidFill>
                  <a:srgbClr val="065A82"/>
                </a:solidFill>
                <a:latin typeface="Calibri"/>
              </a:rPr>
              <a:t>Refinements after Review-I feedback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Vocabulary fixed to a closed, realistic set — the 26 fingerspelled letters plus 20–40 lexical signs — rather than open-vocabulary ASL.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Per-signer calibration added to the capture pipeline after flex-sensor baseline drift was observed between wearers and across sessions.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Acquisition </a:t>
            </a:r>
            <a:r>
              <a:rPr sz="1300" b="0" i="0" dirty="0" err="1">
                <a:solidFill>
                  <a:srgbClr val="000000"/>
                </a:solidFill>
                <a:latin typeface="Calibri"/>
              </a:rPr>
              <a:t>standardised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 to a fixed sampling rate with timestamped 11-channel frames, so windows are reproducible across recording sessions.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Recording protocol </a:t>
            </a:r>
            <a:r>
              <a:rPr sz="1300" b="0" i="0" dirty="0" err="1">
                <a:solidFill>
                  <a:srgbClr val="000000"/>
                </a:solidFill>
                <a:latin typeface="Calibri"/>
              </a:rPr>
              <a:t>formalised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 before collection: scripted sentences for coverage plus free-form signing for natural co-articulation.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05993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Zhang, Wang, Zhao &amp; Yu (2019)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MyoSign: End-to-End Sign Language Recognition with Wearables — Proc. ACM IUI '19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Myo armband (forearm EMG + IMU); multimodal CNN → BiLSTM trained end-to-end with CTC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93.7% word and 93.1% sentence accuracy without manual segmentation. Gap: forearm EMG cannot resolve per-finger configuration; no fingerspelling mode.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Zhang, Jing, Wang &amp; Zhao (2022)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WearSign: Pushing the Limit of Sign Language Translation — Proc. ACM IMWUT, 6(1)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Encoder–decoder with intermediate gloss supervision over inertial + EMG wearables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Closes the gap between sensor signal and spoken-language grammar. Gap: same armband modality limitation; decoding overhead is heavy for an embedded target.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PenSLR (2024)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PenSLR: Persian End-to-End Sign Language Recognition Using Ensembling — arXiv:2406.16388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Glove with 5 flex sensors + 1 IMU; multi-model ensemble decoded with CTC, no pre-segmentation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Validates that 5 flex + 1 IMU carries enough information for continuous CTC decoding. Gap: Persian Sign Language, word level only, no fingerspelling channel.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SpellRing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SpellRing: Recognizing Continuous Fingerspelling in ASL Using a Ring — arXiv:2502.10830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Thumb-worn ring, acoustic sensing + IMU, CTC continuous decoding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82.45% top-1 word accuracy over a 1,164-word set; CTC generalises to fingerspelling. Gap: fingerspelling only, no lexical-sign vocabulary.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Nguyen Ngoc, Truong, Nguyen Duong, Nguyen &amp; Phung (2026)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Multimodal Smart Glove for Sign Language Recognition Using Deep Learning — arXiv:2607.06996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Glove with flex sensors + IMU plus a face camera; LSTM classifier deployed via TensorFlow 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Reports ~95% accuracy on an isolated-gesture set with on-device inference. Gap: isolated words only, no continuous decoding, and the camera reintroduces lighting and privacy constraints.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IoT Assistive Glove (2024)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IoT-Enabled Assistive Glove for Real-Time Sign Language Translation — Int. J. Innovations in Science &amp; 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5 flex sensors + MPU-6050 on an Arduino Nano, CNN–RNN hybrid, results streamed over Wi-Fi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Demonstrates a low-cost wireless assistive glove pipeline. Gap: isolated ASL gestures only; no CTC, so the signer must pause between signs.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53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0">
              <a:spcAft>
                <a:spcPts val="0"/>
              </a:spcAft>
              <a:buNone/>
            </a:pPr>
            <a:r>
              <a:rPr sz="1050" b="0" i="1">
                <a:solidFill>
                  <a:srgbClr val="5A6B78"/>
                </a:solidFill>
                <a:latin typeface="Calibri"/>
              </a:rPr>
              <a:t>Themes: (a) end-to-end continuous recognition with CTC, (b) glove-based finger-level sensing, (c) fingerspelling-specific recognition.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1513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Wu, Sun &amp; Jafari (2016)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A Wearable System for Recognizing ASL in Real-Time Using IMU and sEMG — IEEE J. Biomed. Health Informatics, 20(5)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Fusion of inertial and surface-EMG features with classical classifiers on a 80-sign vocabulary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Established that IMU + sEMG fusion outperforms either modality alone in real time. Gap: isolated signs, small vocabulary, signer-dependent evaluation.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Ji, Wang, Miao, Fan &amp; Ru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Dataglove for Sign Language Recognition via Wearable Inertial Sensors — Sensors, 23(15), 6693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Purely inertial dataglove (no flex sensors) with deep classification of gesture segments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Shows inertial-only sensing can separate many gestures. Gap: without flex channels, handshapes with similar motion but different finger configuration are confusable; no continuous decoding.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Hall-Effect Sensor Glove (2026)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Multi-Purpose Low-Cost Hall-Effect Sensor Glove for Sign Language Recognition — arXiv:2601.11539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Magnetic Hall-effect transduction of joint angle in place of resistive flex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Documents mechanical degradation of resistive ink under repeated bending as a reliability limit. Gap: still isolated-gesture level; motivates a calibration routine in our own flex-based design.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Feng, Zhou, Huang, Luo &amp; Wu (2023)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Design and Implementation of Gesture Recognition System Based on Flex Sensors — IEEE Sensors J., 23(24)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Flex-sensor circuit design, voltage-divider conditioning and gesture classification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Provides the signal-conditioning reference for our own voltage-divider front end. Gap: hardware-focused; no sequence modelling or sentence-level recognition.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Wen, Zhang, He &amp; Lee (2021)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AI-Enabled Sign Language Recognition and VR Bidirectional Communication Using Triboelectric Smart Glove — Nature Communications, 12, 5378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Self-powered triboelectric sensing glove with deep-learning recognition and a VR 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Explicitly frames single-gesture recognition as insufficient for daily communication. Gap: sentence-level recognition from a glove remains open.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Umut &amp; Kumdereli (2024)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Novel Wearable System to Recognize Sign Language in Real Time — Sensors, 24(14), 4613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Real-time wearable recognition system evaluated across multiple signers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Reports the accuracy drop when the system meets signers outside the training set. Gap: confirms signer-independent evaluation is the weak point of the field.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53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0">
              <a:spcAft>
                <a:spcPts val="0"/>
              </a:spcAft>
              <a:buNone/>
            </a:pPr>
            <a:r>
              <a:rPr sz="1050" b="0" i="1">
                <a:solidFill>
                  <a:srgbClr val="5A6B78"/>
                </a:solidFill>
                <a:latin typeface="Calibri"/>
              </a:rPr>
              <a:t>Continued — glove and alternative-sensing literature that informs our hardware choice and its known failure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Literature Review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9300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&amp; Research 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Khan, Jin, Lee, Arzu, Dang, Nguyen, Choi &amp; Moon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Deep Learning Approaches for Continuous Sign Language Recognition: A Comprehensive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Survey of continuous SLR architectures, alignment losses and evaluation protocols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Confirms CTC and encoder–decoder alignment as the standard approaches for unsegmented input. Gap: the surveyed continuous work is overwhelmingly vision-based, not glove-based.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Chen, Yao &amp; Hung (2026)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Real-Time Sign Language Interpretation via Customized Sign Language Gloves and Motion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Customised sensing glove with motion-retrieval matching for real-time interpretation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Demonstrates low-latency interpretation from a custom glove. Gap: retrieval against stored templates does not model co-articulation in continuous signing.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Valarmathi, Ghousiya Begum &amp; Manoj (2026)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Wearable Glove: Sign Language Interpretation With AI-Enabled Finger-Mounted Sensors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Finger-mounted sensor array with an AI classification stage for interpretation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Reinforces finger-level sensing as the right granularity for handshape. Gap: interpretation reported at gesture level, without a mixed fingerspelling and lexical vocabulary.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Graves, Fernández, Gomez &amp; Schmidhuber (2006)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Connectionist Temporal Classification — Proc. ICML '06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CTC loss for labelling unsegmented sequence data with recurrent networks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The foundational method our pipeline depends on: removes the need for frame-level alignment. Included as the methodological basis rather than as a recent result.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Raffel, Shazeer, Roberts et al. (2020)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Exploring the Limits of Transfer Learning with a Unified Text-to-Text Transformer — JMLR, 21(140)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T5 text-to-text transformer pretraining and fine-tuning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000000"/>
                          </a:solidFill>
                          <a:latin typeface="Calibri"/>
                        </a:rPr>
                        <a:t>Basis for the planned gloss-to-English stage fine-tuned on ASLG-PC12. Gap: not sign-specific; gloss-to-English for ASL remains low-resource.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533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0">
              <a:spcAft>
                <a:spcPts val="0"/>
              </a:spcAft>
              <a:buNone/>
            </a:pPr>
            <a:r>
              <a:rPr sz="1050" b="0" i="1">
                <a:solidFill>
                  <a:srgbClr val="B3402F"/>
                </a:solidFill>
                <a:latin typeface="Calibri"/>
              </a:rPr>
              <a:t>Research gaps identified: no glove system decodes lexical signs and fingerspelling in one vocabulary; no public continuous multi-signer flex + IMU corpus exists; signer-independent accuracy is rarely reported.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430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7B6C"/>
                </a:solidFill>
                <a:latin typeface="Calibri"/>
              </a:rPr>
              <a:t>ON-GLOVE  —  BUILT AND STREAMING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828800" cy="86868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5 × Flex sensors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one per finger · voltage divider → ADC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1828800" cy="86868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MPU-6050 IMU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6-axis accel + gyro · I2C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2286000"/>
            <a:ext cx="27432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71800" y="1463040"/>
            <a:ext cx="1737360" cy="1828800"/>
          </a:xfrm>
          <a:prstGeom prst="roundRect">
            <a:avLst/>
          </a:prstGeom>
          <a:solidFill>
            <a:srgbClr val="1C7293"/>
          </a:solidFill>
          <a:ln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ESP32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samples all 11 channels
fixed rate + timestamps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46320" y="2286000"/>
            <a:ext cx="27432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03520" y="1463040"/>
            <a:ext cx="1737360" cy="1828800"/>
          </a:xfrm>
          <a:prstGeom prst="roundRect">
            <a:avLst/>
          </a:prstGeom>
          <a:solidFill>
            <a:srgbClr val="1C7293"/>
          </a:solidFill>
          <a:ln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Host capture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serial / BLE stream
labelling utility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78040" y="2286000"/>
            <a:ext cx="27432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635240" y="1463040"/>
            <a:ext cx="1920240" cy="1828800"/>
          </a:xfrm>
          <a:prstGeom prst="roundRect">
            <a:avLst/>
          </a:prstGeom>
          <a:solidFill>
            <a:srgbClr val="0F7B6C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Dataset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26 letters + 20–40 words
raw 11-channel frames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4A6572"/>
                </a:solidFill>
                <a:latin typeface="Calibri"/>
              </a:rPr>
              <a:t>MODEL AND DECODING  —  REMAINING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828800" cy="914400"/>
          </a:xfrm>
          <a:prstGeom prst="roundRect">
            <a:avLst/>
          </a:prstGeom>
          <a:solidFill>
            <a:srgbClr val="4A6572"/>
          </a:solidFill>
          <a:ln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Preprocessing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calibration, filtering,
normalisation, windows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14600" y="4206240"/>
            <a:ext cx="27432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971800" y="3840480"/>
            <a:ext cx="1737360" cy="914400"/>
          </a:xfrm>
          <a:prstGeom prst="roundRect">
            <a:avLst/>
          </a:prstGeom>
          <a:solidFill>
            <a:srgbClr val="4A6572"/>
          </a:solidFill>
          <a:ln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1-D CNN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local handshape and
motion features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6320" y="4206240"/>
            <a:ext cx="27432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03520" y="3840480"/>
            <a:ext cx="1737360" cy="914400"/>
          </a:xfrm>
          <a:prstGeom prst="roundRect">
            <a:avLst/>
          </a:prstGeom>
          <a:solidFill>
            <a:srgbClr val="4A6572"/>
          </a:solidFill>
          <a:ln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BiLSTM + CTC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bidirectional context,
no frame labels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78040" y="4206240"/>
            <a:ext cx="27432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635240" y="3840480"/>
            <a:ext cx="1920240" cy="914400"/>
          </a:xfrm>
          <a:prstGeom prst="roundRect">
            <a:avLst/>
          </a:prstGeom>
          <a:solidFill>
            <a:srgbClr val="4A6572"/>
          </a:solidFill>
          <a:ln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Beam search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lexicon trie over one
shared vocabulary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92640" y="4206240"/>
            <a:ext cx="274320" cy="201168"/>
          </a:xfrm>
          <a:prstGeom prst="right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149840" y="3840480"/>
            <a:ext cx="1508760" cy="914400"/>
          </a:xfrm>
          <a:prstGeom prst="roundRect">
            <a:avLst/>
          </a:prstGeom>
          <a:solidFill>
            <a:srgbClr val="4A6572"/>
          </a:solidFill>
          <a:ln>
            <a:solidFill>
              <a:srgbClr val="4A65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Gloss → English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rule-based, then
T5 / mBART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458200" y="3364992"/>
            <a:ext cx="256032" cy="384048"/>
          </a:xfrm>
          <a:prstGeom prst="downArrow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 i="0">
                <a:solidFill>
                  <a:srgbClr val="12263A"/>
                </a:solidFill>
                <a:latin typeface="Calibri"/>
              </a:rPr>
              <a:t>Example  —  “my name is Maya”  →  unsegmented 11-channel stream  →  CTC gloss  ME NAME M-A-Y-A  →  “My name is Maya.”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5A6B78"/>
                </a:solidFill>
                <a:latin typeface="Calibri"/>
              </a:rPr>
              <a:t>Green blocks are complete and validated at this review; grey blocks are the remaining 25%. The blank token in CTC absorbs transitions and co-articulation, so no sign boundaries are hand-marked.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0">
              <a:spcAft>
                <a:spcPts val="400"/>
              </a:spcAft>
              <a:buNone/>
            </a:pPr>
            <a:r>
              <a:rPr sz="1500" b="1" i="0">
                <a:solidFill>
                  <a:srgbClr val="065A82"/>
                </a:solidFill>
                <a:latin typeface="Calibri"/>
              </a:rPr>
              <a:t>Modules developed and integrated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Sensing module — five resistive flex sensors in voltage-divider configuration, one per finger, plus an MPU-6050 mounted on the back of the hand; both fixed to the glove with custom mounts.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Firmware module (ESP32) — ADC sampling of the five flex channels and I2C acquisition of six IMU axes, merged into a single timestamped 11-channel frame at a fixed sampling rate.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Streaming module — serial / BLE transmission of frames to the host with no dropped or reordered frames observed over sustained recording sessions.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Host capture and labelling utility (Python) — records a stream, tags it with the class being signed, and writes raw sensor values, timestamps and labels to disk.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Dataset builder — organises recorded sessions into per-class folders with a manifest, ready for windowing and signer-disjoint splitting.</a:t>
            </a:r>
          </a:p>
          <a:p>
            <a:pPr marL="177800" indent="0">
              <a:spcAft>
                <a:spcPts val="0"/>
              </a:spcAft>
              <a:buNone/>
            </a:pPr>
            <a:endParaRPr sz="1300" b="0" i="0">
              <a:solidFill>
                <a:srgbClr val="000000"/>
              </a:solidFill>
              <a:latin typeface="Calibri"/>
            </a:endParaRPr>
          </a:p>
          <a:p>
            <a:pPr marL="177800" indent="0">
              <a:spcAft>
                <a:spcPts val="400"/>
              </a:spcAft>
              <a:buNone/>
            </a:pPr>
            <a:r>
              <a:rPr sz="1500" b="1" i="0">
                <a:solidFill>
                  <a:srgbClr val="065A82"/>
                </a:solidFill>
                <a:latin typeface="Calibri"/>
              </a:rPr>
              <a:t>Algorithms implemented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Per-signer calibration — open-hand and closed-fist reference poses captured at session start; each flex channel is min–max normalised against its own baseline to absorb wearer and mounting variation.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Signal conditioning — moving-average smoothing on the flex channels and gravity-component handling on the accelerometer before normalisation.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Fixed-rate framing — timestamp-driven sampling loop so that window length in samples corresponds to a known duration, making windows reproducible across sessions.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Sliding-window segmentation — overlapping windows over the 11-channel stream, prepared as the input tensor format the CNN front end expects.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>
                <a:solidFill>
                  <a:srgbClr val="000000"/>
                </a:solidFill>
                <a:latin typeface="Calibri"/>
              </a:rPr>
              <a:t>Label encoding — the 26 fingerspelled letters and the recorded lexical signs are mapped into one shared output vocabulary, so a single CTC output layer can emit either mode.</a:t>
            </a:r>
          </a:p>
          <a:p>
            <a:pPr marL="406400" indent="0">
              <a:spcAft>
                <a:spcPts val="800"/>
              </a:spcAft>
              <a:buNone/>
            </a:pPr>
            <a:r>
              <a:rPr sz="1150" b="0" i="1">
                <a:solidFill>
                  <a:srgbClr val="5A6B78"/>
                </a:solidFill>
                <a:latin typeface="Calibri"/>
              </a:rPr>
              <a:t>Model training (CNN → BiLSTM → CTC), lexicon-constrained beam search and the gloss-to-English stage are specified and scaffolded but not yet trained — see Challenges &amp; Remaining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234440"/>
            <a:ext cx="55321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65A82"/>
                </a:solidFill>
                <a:latin typeface="Calibri"/>
              </a:rPr>
              <a:t>ESP32 firmware — fixed-rate 11-channel acquisition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532120" cy="3154680"/>
          </a:xfrm>
          <a:prstGeom prst="roundRect">
            <a:avLst/>
          </a:prstGeom>
          <a:solidFill>
            <a:srgbClr val="12263A"/>
          </a:solidFill>
          <a:ln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const uint8_t FLEX[5] = {32, 33, 34, 35, 36};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const uint32_t PERIOD_US = 10000;          // 100 Hz fixed rate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uint32_t next_us;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void loop() {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uint16_t flex[5];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for (uint8_t i = 0; i &lt; 5; i++)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  flex[i] = analogRead(FLEX[i]);          // per-finger bend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int16_t ax, ay, az, gx, gy, gz;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mpu.getMotion6(&amp;ax, &amp;ay, &amp;az, &amp;gx, &amp;gy, &amp;gz);   // 6-axis IMU over I2C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Serial.printf("%lu,%u,%u,%u,%u,%u,%d,%d,%d,%d,%d,%d\n",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              micros(), flex[0], flex[1], flex[2], flex[3], flex[4],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              ax, ay, az, gx, gy, gz);    // timestamped 11-channel frame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next_us += PERIOD_US;                     // drift-free scheduling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while ((int32_t)(micros() - next_us) &lt; 0) { }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34440"/>
            <a:ext cx="507492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065A82"/>
                </a:solidFill>
                <a:latin typeface="Calibri"/>
              </a:rPr>
              <a:t>Host-side preprocessing and shared vocabulary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508760"/>
            <a:ext cx="5074920" cy="3154680"/>
          </a:xfrm>
          <a:prstGeom prst="roundRect">
            <a:avLst/>
          </a:prstGeom>
          <a:solidFill>
            <a:srgbClr val="12263A"/>
          </a:solidFill>
          <a:ln>
            <a:solidFill>
              <a:srgbClr val="12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bIns="73152" rtlCol="0" anchor="t"/>
          <a:lstStyle/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def calibrate(flex, lo, hi):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  """Min-max normalisation from open/closed reference poses."""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  return np.clip((flex - lo) / (hi - lo + 1e-6), 0.0, 1.0)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def windows(frames, win=100, hop=25):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  """Overlapping windows over the 11-channel stream."""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  for s in range(0, len(frames) - win + 1, hop):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       yield frames[s:s + win]              # shape (win, 11)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 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# one shared vocabulary: blank + 26 letters + lexical signs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VOCAB = ["&lt;blank&gt;"] + list(string.ascii_uppercase) + LEXICAL_SIGNS</a:t>
            </a:r>
          </a:p>
          <a:p>
            <a:pPr algn="l"/>
            <a:r>
              <a:rPr sz="850">
                <a:solidFill>
                  <a:srgbClr val="DAE6EE"/>
                </a:solidFill>
                <a:latin typeface="Courier New"/>
              </a:rPr>
              <a:t>stoi   = {tok: i for i, tok in enumerate(VOCAB)}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60554"/>
            <a:ext cx="10881360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177800" indent="0">
              <a:spcAft>
                <a:spcPts val="400"/>
              </a:spcAft>
              <a:buNone/>
            </a:pPr>
            <a:r>
              <a:rPr sz="1500" b="1" i="0" dirty="0">
                <a:solidFill>
                  <a:srgbClr val="065A82"/>
                </a:solidFill>
                <a:latin typeface="Calibri"/>
              </a:rPr>
              <a:t>Why these two pieces matter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Drift-free scheduling on the ESP32 keeps the sampling interval constant, so a window of N samples always represents the same duration — without this, CTC sees inconsistent time scales between sessions.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Per-signer calibration is what makes signer-independent evaluation possible later: raw flex values differ between wearers, </a:t>
            </a:r>
            <a:r>
              <a:rPr sz="1300" b="0" i="0" dirty="0" err="1">
                <a:solidFill>
                  <a:srgbClr val="000000"/>
                </a:solidFill>
                <a:latin typeface="Calibri"/>
              </a:rPr>
              <a:t>normalised</a:t>
            </a:r>
            <a:r>
              <a:rPr sz="1300" b="0" i="0" dirty="0">
                <a:solidFill>
                  <a:srgbClr val="000000"/>
                </a:solidFill>
                <a:latin typeface="Calibri"/>
              </a:rPr>
              <a:t> values do not.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300" b="0" i="0" dirty="0">
                <a:solidFill>
                  <a:srgbClr val="000000"/>
                </a:solidFill>
                <a:latin typeface="Calibri"/>
              </a:rPr>
              <a:t>A single shared vocabulary with one CTC blank token is the mechanism that lets the model emit a letter or a whole sign from the same output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(75%)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88720"/>
            <a:ext cx="2606040" cy="105156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11 / 11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Channels streaming (5 flex + 6 IMU)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188720"/>
            <a:ext cx="2606040" cy="105156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26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Fingerspelled letter classes recorded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2606040" cy="1051560"/>
          </a:xfrm>
          <a:prstGeom prst="roundRect">
            <a:avLst/>
          </a:prstGeom>
          <a:solidFill>
            <a:srgbClr val="065A82"/>
          </a:solidFill>
          <a:ln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20–40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Lexical sign classes recorded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188720"/>
            <a:ext cx="2724912" cy="1051560"/>
          </a:xfrm>
          <a:prstGeom prst="roundRect">
            <a:avLst/>
          </a:prstGeom>
          <a:solidFill>
            <a:srgbClr val="0F7B6C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75%</a:t>
            </a:r>
          </a:p>
          <a:p>
            <a:r>
              <a:rPr sz="1000">
                <a:solidFill>
                  <a:srgbClr val="FFFFFF"/>
                </a:solidFill>
                <a:latin typeface="Calibri"/>
              </a:rPr>
              <a:t>Of planned work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7800" indent="0">
              <a:spcAft>
                <a:spcPts val="400"/>
              </a:spcAft>
              <a:buNone/>
            </a:pPr>
            <a:r>
              <a:rPr sz="1400" b="1" i="0">
                <a:solidFill>
                  <a:srgbClr val="065A82"/>
                </a:solidFill>
                <a:latin typeface="Calibri"/>
              </a:rPr>
              <a:t>Dataset collected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834640"/>
          <a:ext cx="5486399" cy="1944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Classes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Fingerspelled alphabet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26 letters (A–Z)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Recorded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Lexical signs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20–40 whole-sign 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Recorded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Continuous sentences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Mixed letter + sign utterances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Protocol defined, collection in progress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Signer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Multiple signers, signer-disjoint splits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Splits defined, not yet frozen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8920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7800" indent="0">
              <a:spcAft>
                <a:spcPts val="0"/>
              </a:spcAft>
              <a:buNone/>
            </a:pPr>
            <a:r>
              <a:rPr sz="1000" b="0" i="1">
                <a:solidFill>
                  <a:srgbClr val="B3402F"/>
                </a:solidFill>
                <a:latin typeface="Calibri"/>
              </a:rPr>
              <a:t>Exact sample counts, repetitions per class and total recording duration are read from the capture manifest and inserted here before the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239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7800" indent="0">
              <a:spcAft>
                <a:spcPts val="400"/>
              </a:spcAft>
              <a:buNone/>
            </a:pPr>
            <a:r>
              <a:rPr sz="1400" b="1" i="0">
                <a:solidFill>
                  <a:srgbClr val="065A82"/>
                </a:solidFill>
                <a:latin typeface="Calibri"/>
              </a:rPr>
              <a:t>Acquisition validated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5239512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All five flex channels respond monotonically to joint bend, with clearly separated value bands between the fully open and fully closed positions.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The MPU-6050 returns six axes over I2C in the same frame as the flex values, giving hand orientation and motion alongside handshape.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Frames arrive at a constant rate with monotonic timestamps; no dropped or reordered frames were observed across sustained recording sessions.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Static handshapes produce visually repeatable multi-channel signatures across repetitions and across sessions after calibration.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Per-signer calibration removes the baseline offset seen between wearers, so the same handshape maps to a similar normalised vector.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1091672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7800" indent="0">
              <a:spcAft>
                <a:spcPts val="400"/>
              </a:spcAft>
              <a:buNone/>
            </a:pPr>
            <a:r>
              <a:rPr sz="1500" b="1" i="0" dirty="0">
                <a:solidFill>
                  <a:srgbClr val="065A82"/>
                </a:solidFill>
                <a:latin typeface="Calibri"/>
              </a:rPr>
              <a:t>Analysis at this stage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200" b="0" i="0" dirty="0">
                <a:solidFill>
                  <a:srgbClr val="000000"/>
                </a:solidFill>
                <a:latin typeface="Calibri"/>
              </a:rPr>
              <a:t>What these results establish: the sensing and capture layer is reliable enough to train on — channels are responsive, separable by handshape, stable across sessions, and consistently timed.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200" b="0" i="0" dirty="0">
                <a:solidFill>
                  <a:srgbClr val="000000"/>
                </a:solidFill>
                <a:latin typeface="Calibri"/>
              </a:rPr>
              <a:t>What they do not establish: no recognition accuracy is claimed yet. WER on continuous sentences, BLEU on gloss-to-English output, and the isolated-versus-continuous gap all require the trained model.</a:t>
            </a:r>
          </a:p>
          <a:p>
            <a:pPr marL="406400" indent="0">
              <a:spcAft>
                <a:spcPts val="800"/>
              </a:spcAft>
              <a:buNone/>
            </a:pPr>
            <a:r>
              <a:rPr sz="1150" b="0" i="1" dirty="0">
                <a:solidFill>
                  <a:srgbClr val="5A6B78"/>
                </a:solidFill>
                <a:latin typeface="Calibri"/>
              </a:rPr>
              <a:t>Those three numbers are the headline deliverables for Review-III; reporting them honestly, including the drop on unseen signers, is a stated objective of this project.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62" y="1339207"/>
            <a:ext cx="5598543" cy="282131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89" y="1591635"/>
            <a:ext cx="5710686" cy="23200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Remaining Work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0">
              <a:spcAft>
                <a:spcPts val="400"/>
              </a:spcAft>
              <a:buNone/>
            </a:pPr>
            <a:r>
              <a:rPr sz="1350" b="1" i="0">
                <a:solidFill>
                  <a:srgbClr val="065A82"/>
                </a:solidFill>
                <a:latin typeface="Calibri"/>
              </a:rPr>
              <a:t>Challenges faced and solutions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Flex-sensor baseline drift — raw resistance varied between wearers and between sessions as the glove shifted. Solution: an open-hand / closed-fist calibration captured at the start of every session, with each channel min–max normalised against its own baseline.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Mechanical fragility of the resistive strips — documented in the literature as ink degradation under repeated bending. Solution: strain-relieved mounts so the sensor bends along its rated axis, plus a periodic recalibration check; sensor lifetime testing is planned.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Inconsistent sampling interval — a naive delay-based loop produced variable frame spacing, which would make windows represent different durations. Solution: drift-free timestamped scheduling in firmware at a fixed rate.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Noise on the analog channels — ADC readings jittered on long cable runs. Solution: shortened and secured wiring, stable supply, and moving-average smoothing before normalisation.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Labelling continuous recordings — there are no sign boundaries to mark in natural signing. Solution: the CTC formulation removes the requirement; only the utterance-level gloss sequence is recorded, not frame-level labels.</a:t>
            </a:r>
          </a:p>
          <a:p>
            <a:pPr marL="177800" indent="0">
              <a:spcAft>
                <a:spcPts val="0"/>
              </a:spcAft>
              <a:buNone/>
            </a:pPr>
            <a:endParaRPr sz="1150" b="0" i="0">
              <a:solidFill>
                <a:srgbClr val="000000"/>
              </a:solidFill>
              <a:latin typeface="Calibri"/>
            </a:endParaRPr>
          </a:p>
          <a:p>
            <a:pPr marL="177800" indent="0">
              <a:spcAft>
                <a:spcPts val="400"/>
              </a:spcAft>
              <a:buNone/>
            </a:pPr>
            <a:r>
              <a:rPr sz="1350" b="1" i="0">
                <a:solidFill>
                  <a:srgbClr val="065A82"/>
                </a:solidFill>
                <a:latin typeface="Calibri"/>
              </a:rPr>
              <a:t>Remaining work (25%)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Complete the continuous sentence subset and freeze the signer-disjoint train / dev / test splits.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Train the CNN → BiLSTM → CTC model on the collected corpus, with augmentation (time warping, sensor noise, per-signer scaling) and hyperparameter search on dev signers.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Implement lexicon-constrained beam search over the shared vocabulary so fingerspelled runs resolve to valid words and names.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Build the gloss-to-English stage: rule-based reordering baseline, with T5 / mBART on ASLG-PC12 as a stretch goal.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Evaluate: WER and BLEU on signer-independent splits, plus the explicit isolated-versus-continuous comparison; assemble the demo and report.</a:t>
            </a:r>
          </a:p>
          <a:p>
            <a:pPr marL="177800" indent="0">
              <a:spcAft>
                <a:spcPts val="0"/>
              </a:spcAft>
              <a:buNone/>
            </a:pPr>
            <a:endParaRPr sz="1150" b="0" i="0">
              <a:solidFill>
                <a:srgbClr val="000000"/>
              </a:solidFill>
              <a:latin typeface="Calibri"/>
            </a:endParaRPr>
          </a:p>
          <a:p>
            <a:pPr marL="177800" indent="0">
              <a:spcAft>
                <a:spcPts val="400"/>
              </a:spcAft>
              <a:buNone/>
            </a:pPr>
            <a:r>
              <a:rPr sz="1350" b="1" i="0">
                <a:solidFill>
                  <a:srgbClr val="065A82"/>
                </a:solidFill>
                <a:latin typeface="Calibri"/>
              </a:rPr>
              <a:t>Timeline for completion by Review-III (28.10.2026)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Week 1 (30 Sep – 06 Oct): finish continuous sentence recordings, freeze splits, publish the dataset manifest.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Weeks 2–3 (07 – 20 Oct): model training and tuning; first WER numbers on the dev signers.</a:t>
            </a:r>
          </a:p>
          <a:p>
            <a:pPr marL="406400" indent="-177800">
              <a:spcAft>
                <a:spcPts val="400"/>
              </a:spcAft>
              <a:buChar char="–"/>
            </a:pPr>
            <a:r>
              <a:rPr sz="1150" b="0" i="0">
                <a:solidFill>
                  <a:srgbClr val="000000"/>
                </a:solidFill>
                <a:latin typeface="Calibri"/>
              </a:rPr>
              <a:t>Week 4 (21 – 27 Oct): constrained decoding, gloss-to-English baseline, signer-independent evaluation, demo and report.</a:t>
            </a:r>
          </a:p>
          <a:p>
            <a:pPr marL="406400" indent="0">
              <a:spcAft>
                <a:spcPts val="800"/>
              </a:spcAft>
              <a:buNone/>
            </a:pPr>
            <a:r>
              <a:rPr sz="1000" b="0" i="1">
                <a:solidFill>
                  <a:srgbClr val="5A6B78"/>
                </a:solidFill>
                <a:latin typeface="Calibri"/>
              </a:rPr>
              <a:t>Critical path: the continuous sentence subset. Training cannot start until those recordings and their gloss transcripts are complete.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[1]  Q. Zhang, D. Wang, R. Zhao, and Y. Yu, “MyoSign: Enabling end-to-end sign language recognition with wearables,” in Proc. 24th Int. Conf. Intelligent User Interfaces (IUI), Marina del Rey, CA, USA, 2019, pp. 650–660.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[2]  Q. Zhang, J. Jing, D. Wang, and R. Zhao, “WearSign: Pushing the limit of sign language translation using inertial and EMG wearables,” Proc. ACM Interact. Mob. Wearable Ubiquitous Technol., vol. 6, no. 1, pp. 1–27, 2022.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[3]  “PenSLR: Persian end-to-end sign language recognition using ensembling,” arXiv:2406.16388, 2024.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[4]  “SpellRing: Recognizing continuous fingerspelling in American Sign Language using a ring,” arXiv:2502.10830, 2025.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[5]  A. T. Nguyen Ngoc, T. P. Truong, T. A. Nguyen Duong, V. L. Nguyen, and M. D. Phung, “Multimodal smart glove for sign language recognition using deep learning,” arXiv:2607.06996, 2026.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[6]  “IoT-enabled assistive glove for real-time sign language translation using machine learning,” Int. J. Innovations Sci. Technol., 2024.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[7]  J. Wu, L. Sun, and R. Jafari, “A wearable system for recognizing American Sign Language in real-time using IMU and surface EMG sensors,” IEEE J. Biomed. Health Inform., vol. 20, no. 5, pp. 1281–1290, 2016.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[8]  A. Ji, Y. Wang, X. Miao, T. Fan, and B. Ru, “Dataglove for sign language recognition of people with hearing and speech impairment via wearable inertial sensors,” Sensors, vol. 23, no. 15, art. 6693, 2023.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[9]  “Design and implementation of a multi-purpose low-cost Hall-effect sensor glove for sign language recognition,” arXiv:2601.11539, 2026.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0">
              <a:spcAft>
                <a:spcPts val="0"/>
              </a:spcAft>
              <a:buNone/>
            </a:pPr>
            <a:r>
              <a:rPr sz="1050" b="0" i="1">
                <a:solidFill>
                  <a:srgbClr val="5A6B78"/>
                </a:solidFill>
                <a:latin typeface="Calibri"/>
              </a:rPr>
              <a:t>IEEE format. All references above are cited in the Detailed Literature Review slides.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(contd.)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[10]  D. Feng, C. Zhou, J. Huang, G. Luo, and X. Wu, “Design and implementation of gesture recognition system based on flex sensors,” IEEE Sensors J., vol. 23, no. 24, pp. 31389–31398, 2023.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[11]  F. Wen, Z. Zhang, T. He, and C. Lee, “AI enabled sign language recognition and VR space bidirectional communication using triboelectric smart glove,” Nature Communications, vol. 12, art. 5378, 2021.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[12]  İ. Umut and Ü. C. Kumdereli, “Novel wearable system to recognize sign language in real time,” Sensors, vol. 24, no. 14, art. 4613, 2024.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[13]  A. Khan, S. Jin, G.-H. Lee, G. Arzu, M. Dang, T. Nguyen, W. Choi, and H. Moon, “Deep learning approaches for continuous sign language recognition: A comprehensive review,” 2025.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[14]  C.-H. Chen, C.-Y. Yao, and S.-H. Hung, “Real-time sign language interpretation via customized sign language gloves and motion retrieval,” 2026.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[15]  R. Valarmathi, K. Ghousiya Begum, and R. D. Manoj, “Wearable glove: Sign language interpretation with AI-enabled finger-mounted sensors,” 2026.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[16]  A. Graves, S. Fernández, F. Gomez, and J. Schmidhuber, “Connectionist temporal classification: Labelling unsegmented sequence data with recurrent neural networks,” in Proc. 23rd Int. Conf. Machine Learning (ICML), Pittsburgh, PA, USA, 2006, pp. 369–376.</a:t>
            </a:r>
          </a:p>
          <a:p>
            <a:pPr marL="177800" indent="0">
              <a:spcAft>
                <a:spcPts val="700"/>
              </a:spcAft>
              <a:buNone/>
            </a:pPr>
            <a:r>
              <a:rPr sz="1100" b="0" i="0">
                <a:solidFill>
                  <a:srgbClr val="000000"/>
                </a:solidFill>
                <a:latin typeface="Calibri"/>
              </a:rPr>
              <a:t>[17]  C. Raffel, N. Shazeer, A. Roberts, et al., “Exploring the limits of transfer learning with a unified text-to-text transformer,” J. Mach. Learn. Res., vol. 21, no. 140, pp. 1–67, 2020.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0">
              <a:spcAft>
                <a:spcPts val="0"/>
              </a:spcAft>
              <a:buNone/>
            </a:pPr>
            <a:r>
              <a:rPr sz="1050" b="0" i="1">
                <a:solidFill>
                  <a:srgbClr val="5A6B78"/>
                </a:solidFill>
                <a:latin typeface="Calibri"/>
              </a:rPr>
              <a:t>References [16] and [17] are methodological foundations (CTC loss and the T5 framework) rather than recent sign-language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4077</Words>
  <Application>Microsoft Office PowerPoint</Application>
  <PresentationFormat>Widescreen</PresentationFormat>
  <Paragraphs>327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6</cp:revision>
  <dcterms:created xsi:type="dcterms:W3CDTF">2026-08-27T09:57:11Z</dcterms:created>
  <dcterms:modified xsi:type="dcterms:W3CDTF">2026-09-30T10:52:00Z</dcterms:modified>
</cp:coreProperties>
</file>